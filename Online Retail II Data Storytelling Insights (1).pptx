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x Gyre Termes Bold" charset="1" panose="000008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70055" y="-4651302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6801" y="2795565"/>
            <a:ext cx="12834398" cy="213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99"/>
              </a:lnSpc>
              <a:spcBef>
                <a:spcPct val="0"/>
              </a:spcBef>
            </a:pPr>
            <a:r>
              <a:rPr lang="en-US" b="true" sz="12499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ONLINE RETAIL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26801" y="4764068"/>
            <a:ext cx="12546675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</a:pPr>
            <a:r>
              <a:rPr lang="en-US" b="true" sz="5600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Story Behind the Transactions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7612" y="6454853"/>
            <a:ext cx="11367492" cy="67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What is really driving this online retailer's business?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9562" y="8734142"/>
            <a:ext cx="11079738" cy="5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by Naomi John, Soniya Khandare,  &amp; Stasha Pereira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8014" y="441159"/>
            <a:ext cx="14411973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ON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MILLION+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NSACTIONS. </a:t>
            </a:r>
          </a:p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ONE QUESTION.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1884" y="3647652"/>
            <a:ext cx="17004232" cy="1573530"/>
            <a:chOff x="0" y="0"/>
            <a:chExt cx="22672310" cy="20980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42875"/>
              <a:ext cx="10783487" cy="2240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525,461</a:t>
              </a:r>
            </a:p>
            <a:p>
              <a:pPr algn="ctr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Raw records — 2009–2010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1888823" y="-142875"/>
              <a:ext cx="10783487" cy="2240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541,910</a:t>
              </a:r>
            </a:p>
            <a:p>
              <a:pPr algn="ctr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4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Raw records — 2010–2011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2119" y="5965113"/>
            <a:ext cx="16425387" cy="81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9"/>
              </a:lnSpc>
              <a:spcBef>
                <a:spcPct val="0"/>
              </a:spcBef>
            </a:pPr>
            <a:r>
              <a:rPr lang="en-US" sz="45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 than 1 million transaction records across two years.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649045"/>
            <a:ext cx="16120777" cy="1413519"/>
            <a:chOff x="0" y="0"/>
            <a:chExt cx="12305582" cy="1078991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2305582" cy="1078991"/>
            </a:xfrm>
            <a:custGeom>
              <a:avLst/>
              <a:gdLst/>
              <a:ahLst/>
              <a:cxnLst/>
              <a:rect r="r" b="b" t="t" l="l"/>
              <a:pathLst>
                <a:path h="1078991" w="12305582">
                  <a:moveTo>
                    <a:pt x="0" y="0"/>
                  </a:moveTo>
                  <a:lnTo>
                    <a:pt x="12305582" y="0"/>
                  </a:lnTo>
                  <a:lnTo>
                    <a:pt x="12305582" y="1078991"/>
                  </a:lnTo>
                  <a:lnTo>
                    <a:pt x="0" y="1078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937" r="0" b="-2293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0147" y="7810970"/>
            <a:ext cx="16129330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Online Retail II dataset contains transaction-level information including invoice, product, quantity, price, date, customer and country.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3152" y="688657"/>
            <a:ext cx="12901695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From Raw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ransactions to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V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alid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5846" y="3823288"/>
            <a:ext cx="4798102" cy="401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525,461</a:t>
            </a:r>
          </a:p>
          <a:p>
            <a:pPr algn="ctr">
              <a:lnSpc>
                <a:spcPts val="4323"/>
              </a:lnSpc>
              <a:spcBef>
                <a:spcPct val="0"/>
              </a:spcBef>
            </a:pPr>
            <a:r>
              <a:rPr lang="en-US" sz="3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↓ </a:t>
            </a:r>
          </a:p>
          <a:p>
            <a:pPr algn="ctr">
              <a:lnSpc>
                <a:spcPts val="4323"/>
              </a:lnSpc>
              <a:spcBef>
                <a:spcPct val="0"/>
              </a:spcBef>
            </a:pPr>
            <a:r>
              <a:rPr lang="en-US" sz="3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duplicate removal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518,596</a:t>
            </a:r>
          </a:p>
          <a:p>
            <a:pPr algn="ctr">
              <a:lnSpc>
                <a:spcPts val="4323"/>
              </a:lnSpc>
              <a:spcBef>
                <a:spcPct val="0"/>
              </a:spcBef>
            </a:pPr>
            <a:r>
              <a:rPr lang="en-US" sz="3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ctr">
              <a:lnSpc>
                <a:spcPts val="4323"/>
              </a:lnSpc>
              <a:spcBef>
                <a:spcPct val="0"/>
              </a:spcBef>
            </a:pPr>
            <a:r>
              <a:rPr lang="en-US" sz="3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sales filtering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504,730 valid sales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55006" y="3732103"/>
            <a:ext cx="4798102" cy="410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541,910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↓</a:t>
            </a:r>
          </a:p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duplicate removal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536,642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↓</a:t>
            </a:r>
          </a:p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sales filtering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4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524,878 valid sales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9537" y="3964644"/>
            <a:ext cx="5116823" cy="366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97" indent="-322649" lvl="1">
              <a:lnSpc>
                <a:spcPts val="4184"/>
              </a:lnSpc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 records</a:t>
            </a:r>
          </a:p>
          <a:p>
            <a:pPr algn="l" marL="645297" indent="-322649" lvl="1">
              <a:lnSpc>
                <a:spcPts val="4184"/>
              </a:lnSpc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Quantity ≤ 0</a:t>
            </a:r>
          </a:p>
          <a:p>
            <a:pPr algn="l" marL="645297" indent="-322649" lvl="1">
              <a:lnSpc>
                <a:spcPts val="4184"/>
              </a:lnSpc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Price ≤ 0</a:t>
            </a:r>
          </a:p>
          <a:p>
            <a:pPr algn="l" marL="645297" indent="-322649" lvl="1">
              <a:lnSpc>
                <a:spcPts val="4184"/>
              </a:lnSpc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 invoices (C)</a:t>
            </a:r>
          </a:p>
          <a:p>
            <a:pPr algn="l" marL="645297" indent="-322649" lvl="1">
              <a:lnSpc>
                <a:spcPts val="4184"/>
              </a:lnSpc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Adjustment invoices (A)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2118" y="2039078"/>
            <a:ext cx="5206345" cy="6208845"/>
            <a:chOff x="0" y="0"/>
            <a:chExt cx="1371218" cy="1635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218" cy="1635251"/>
            </a:xfrm>
            <a:custGeom>
              <a:avLst/>
              <a:gdLst/>
              <a:ahLst/>
              <a:cxnLst/>
              <a:rect r="r" b="b" t="t" l="l"/>
              <a:pathLst>
                <a:path h="1635251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559414"/>
                  </a:lnTo>
                  <a:cubicBezTo>
                    <a:pt x="1371218" y="1579527"/>
                    <a:pt x="1363228" y="1598817"/>
                    <a:pt x="1349006" y="1613039"/>
                  </a:cubicBezTo>
                  <a:cubicBezTo>
                    <a:pt x="1334784" y="1627261"/>
                    <a:pt x="1315494" y="1635251"/>
                    <a:pt x="1295381" y="1635251"/>
                  </a:cubicBezTo>
                  <a:lnTo>
                    <a:pt x="75838" y="1635251"/>
                  </a:lnTo>
                  <a:cubicBezTo>
                    <a:pt x="55724" y="1635251"/>
                    <a:pt x="36435" y="1627261"/>
                    <a:pt x="22212" y="1613039"/>
                  </a:cubicBezTo>
                  <a:cubicBezTo>
                    <a:pt x="7990" y="1598817"/>
                    <a:pt x="0" y="1579527"/>
                    <a:pt x="0" y="1559414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71218" cy="1701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40828" y="2039078"/>
            <a:ext cx="5206345" cy="6208845"/>
            <a:chOff x="0" y="0"/>
            <a:chExt cx="1371218" cy="1635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218" cy="1635251"/>
            </a:xfrm>
            <a:custGeom>
              <a:avLst/>
              <a:gdLst/>
              <a:ahLst/>
              <a:cxnLst/>
              <a:rect r="r" b="b" t="t" l="l"/>
              <a:pathLst>
                <a:path h="1635251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559414"/>
                  </a:lnTo>
                  <a:cubicBezTo>
                    <a:pt x="1371218" y="1579527"/>
                    <a:pt x="1363228" y="1598817"/>
                    <a:pt x="1349006" y="1613039"/>
                  </a:cubicBezTo>
                  <a:cubicBezTo>
                    <a:pt x="1334784" y="1627261"/>
                    <a:pt x="1315494" y="1635251"/>
                    <a:pt x="1295381" y="1635251"/>
                  </a:cubicBezTo>
                  <a:lnTo>
                    <a:pt x="75838" y="1635251"/>
                  </a:lnTo>
                  <a:cubicBezTo>
                    <a:pt x="55724" y="1635251"/>
                    <a:pt x="36435" y="1627261"/>
                    <a:pt x="22212" y="1613039"/>
                  </a:cubicBezTo>
                  <a:cubicBezTo>
                    <a:pt x="7990" y="1598817"/>
                    <a:pt x="0" y="1579527"/>
                    <a:pt x="0" y="1559414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71218" cy="1701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39537" y="2039078"/>
            <a:ext cx="5206345" cy="6208845"/>
            <a:chOff x="0" y="0"/>
            <a:chExt cx="1371218" cy="16352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218" cy="1635251"/>
            </a:xfrm>
            <a:custGeom>
              <a:avLst/>
              <a:gdLst/>
              <a:ahLst/>
              <a:cxnLst/>
              <a:rect r="r" b="b" t="t" l="l"/>
              <a:pathLst>
                <a:path h="1635251" w="1371218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559414"/>
                  </a:lnTo>
                  <a:cubicBezTo>
                    <a:pt x="1371218" y="1579527"/>
                    <a:pt x="1363228" y="1598817"/>
                    <a:pt x="1349006" y="1613039"/>
                  </a:cubicBezTo>
                  <a:cubicBezTo>
                    <a:pt x="1334784" y="1627261"/>
                    <a:pt x="1315494" y="1635251"/>
                    <a:pt x="1295381" y="1635251"/>
                  </a:cubicBezTo>
                  <a:lnTo>
                    <a:pt x="75838" y="1635251"/>
                  </a:lnTo>
                  <a:cubicBezTo>
                    <a:pt x="55724" y="1635251"/>
                    <a:pt x="36435" y="1627261"/>
                    <a:pt x="22212" y="1613039"/>
                  </a:cubicBezTo>
                  <a:cubicBezTo>
                    <a:pt x="7990" y="1598817"/>
                    <a:pt x="0" y="1579527"/>
                    <a:pt x="0" y="1559414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71218" cy="1701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6902" y="2327303"/>
            <a:ext cx="2815989" cy="918945"/>
            <a:chOff x="0" y="0"/>
            <a:chExt cx="741660" cy="2420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660" cy="242027"/>
            </a:xfrm>
            <a:custGeom>
              <a:avLst/>
              <a:gdLst/>
              <a:ahLst/>
              <a:cxnLst/>
              <a:rect r="r" b="b" t="t" l="l"/>
              <a:pathLst>
                <a:path h="242027" w="741660">
                  <a:moveTo>
                    <a:pt x="85227" y="0"/>
                  </a:moveTo>
                  <a:lnTo>
                    <a:pt x="656432" y="0"/>
                  </a:lnTo>
                  <a:cubicBezTo>
                    <a:pt x="679036" y="0"/>
                    <a:pt x="700714" y="8979"/>
                    <a:pt x="716697" y="24963"/>
                  </a:cubicBezTo>
                  <a:cubicBezTo>
                    <a:pt x="732680" y="40946"/>
                    <a:pt x="741660" y="62624"/>
                    <a:pt x="741660" y="85227"/>
                  </a:cubicBezTo>
                  <a:lnTo>
                    <a:pt x="741660" y="156799"/>
                  </a:lnTo>
                  <a:cubicBezTo>
                    <a:pt x="741660" y="179403"/>
                    <a:pt x="732680" y="201081"/>
                    <a:pt x="716697" y="217064"/>
                  </a:cubicBezTo>
                  <a:cubicBezTo>
                    <a:pt x="700714" y="233047"/>
                    <a:pt x="679036" y="242027"/>
                    <a:pt x="656432" y="242027"/>
                  </a:cubicBezTo>
                  <a:lnTo>
                    <a:pt x="85227" y="242027"/>
                  </a:lnTo>
                  <a:cubicBezTo>
                    <a:pt x="38158" y="242027"/>
                    <a:pt x="0" y="203869"/>
                    <a:pt x="0" y="156799"/>
                  </a:cubicBezTo>
                  <a:lnTo>
                    <a:pt x="0" y="85227"/>
                  </a:lnTo>
                  <a:cubicBezTo>
                    <a:pt x="0" y="62624"/>
                    <a:pt x="8979" y="40946"/>
                    <a:pt x="24963" y="24963"/>
                  </a:cubicBezTo>
                  <a:cubicBezTo>
                    <a:pt x="40946" y="8979"/>
                    <a:pt x="62624" y="0"/>
                    <a:pt x="85227" y="0"/>
                  </a:cubicBezTo>
                  <a:close/>
                </a:path>
              </a:pathLst>
            </a:custGeom>
            <a:solidFill>
              <a:srgbClr val="297A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741660" cy="346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2009–2010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46062" y="2327303"/>
            <a:ext cx="2815989" cy="918945"/>
            <a:chOff x="0" y="0"/>
            <a:chExt cx="741660" cy="2420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1660" cy="242027"/>
            </a:xfrm>
            <a:custGeom>
              <a:avLst/>
              <a:gdLst/>
              <a:ahLst/>
              <a:cxnLst/>
              <a:rect r="r" b="b" t="t" l="l"/>
              <a:pathLst>
                <a:path h="242027" w="741660">
                  <a:moveTo>
                    <a:pt x="85227" y="0"/>
                  </a:moveTo>
                  <a:lnTo>
                    <a:pt x="656432" y="0"/>
                  </a:lnTo>
                  <a:cubicBezTo>
                    <a:pt x="679036" y="0"/>
                    <a:pt x="700714" y="8979"/>
                    <a:pt x="716697" y="24963"/>
                  </a:cubicBezTo>
                  <a:cubicBezTo>
                    <a:pt x="732680" y="40946"/>
                    <a:pt x="741660" y="62624"/>
                    <a:pt x="741660" y="85227"/>
                  </a:cubicBezTo>
                  <a:lnTo>
                    <a:pt x="741660" y="156799"/>
                  </a:lnTo>
                  <a:cubicBezTo>
                    <a:pt x="741660" y="179403"/>
                    <a:pt x="732680" y="201081"/>
                    <a:pt x="716697" y="217064"/>
                  </a:cubicBezTo>
                  <a:cubicBezTo>
                    <a:pt x="700714" y="233047"/>
                    <a:pt x="679036" y="242027"/>
                    <a:pt x="656432" y="242027"/>
                  </a:cubicBezTo>
                  <a:lnTo>
                    <a:pt x="85227" y="242027"/>
                  </a:lnTo>
                  <a:cubicBezTo>
                    <a:pt x="38158" y="242027"/>
                    <a:pt x="0" y="203869"/>
                    <a:pt x="0" y="156799"/>
                  </a:cubicBezTo>
                  <a:lnTo>
                    <a:pt x="0" y="85227"/>
                  </a:lnTo>
                  <a:cubicBezTo>
                    <a:pt x="0" y="62624"/>
                    <a:pt x="8979" y="40946"/>
                    <a:pt x="24963" y="24963"/>
                  </a:cubicBezTo>
                  <a:cubicBezTo>
                    <a:pt x="40946" y="8979"/>
                    <a:pt x="62624" y="0"/>
                    <a:pt x="85227" y="0"/>
                  </a:cubicBezTo>
                  <a:close/>
                </a:path>
              </a:pathLst>
            </a:custGeom>
            <a:solidFill>
              <a:srgbClr val="297A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741660" cy="346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2010–2011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87507" y="2327303"/>
            <a:ext cx="4510405" cy="918945"/>
            <a:chOff x="0" y="0"/>
            <a:chExt cx="1187925" cy="2420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7925" cy="242027"/>
            </a:xfrm>
            <a:custGeom>
              <a:avLst/>
              <a:gdLst/>
              <a:ahLst/>
              <a:cxnLst/>
              <a:rect r="r" b="b" t="t" l="l"/>
              <a:pathLst>
                <a:path h="242027" w="1187925">
                  <a:moveTo>
                    <a:pt x="53210" y="0"/>
                  </a:moveTo>
                  <a:lnTo>
                    <a:pt x="1134715" y="0"/>
                  </a:lnTo>
                  <a:cubicBezTo>
                    <a:pt x="1148827" y="0"/>
                    <a:pt x="1162362" y="5606"/>
                    <a:pt x="1172341" y="15585"/>
                  </a:cubicBezTo>
                  <a:cubicBezTo>
                    <a:pt x="1182319" y="25564"/>
                    <a:pt x="1187925" y="39098"/>
                    <a:pt x="1187925" y="53210"/>
                  </a:cubicBezTo>
                  <a:lnTo>
                    <a:pt x="1187925" y="188816"/>
                  </a:lnTo>
                  <a:cubicBezTo>
                    <a:pt x="1187925" y="202929"/>
                    <a:pt x="1182319" y="216463"/>
                    <a:pt x="1172341" y="226442"/>
                  </a:cubicBezTo>
                  <a:cubicBezTo>
                    <a:pt x="1162362" y="236421"/>
                    <a:pt x="1148827" y="242027"/>
                    <a:pt x="1134715" y="242027"/>
                  </a:cubicBezTo>
                  <a:lnTo>
                    <a:pt x="53210" y="242027"/>
                  </a:lnTo>
                  <a:cubicBezTo>
                    <a:pt x="39098" y="242027"/>
                    <a:pt x="25564" y="236421"/>
                    <a:pt x="15585" y="226442"/>
                  </a:cubicBezTo>
                  <a:cubicBezTo>
                    <a:pt x="5606" y="216463"/>
                    <a:pt x="0" y="202929"/>
                    <a:pt x="0" y="188816"/>
                  </a:cubicBezTo>
                  <a:lnTo>
                    <a:pt x="0" y="53210"/>
                  </a:lnTo>
                  <a:cubicBezTo>
                    <a:pt x="0" y="39098"/>
                    <a:pt x="5606" y="25564"/>
                    <a:pt x="15585" y="15585"/>
                  </a:cubicBezTo>
                  <a:cubicBezTo>
                    <a:pt x="25564" y="5606"/>
                    <a:pt x="39098" y="0"/>
                    <a:pt x="53210" y="0"/>
                  </a:cubicBezTo>
                  <a:close/>
                </a:path>
              </a:pathLst>
            </a:custGeom>
            <a:solidFill>
              <a:srgbClr val="297A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1187925" cy="346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was filtered?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4350" y="8613126"/>
            <a:ext cx="17259300" cy="1290348"/>
            <a:chOff x="0" y="0"/>
            <a:chExt cx="23012400" cy="1720465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3012400" cy="1720465"/>
            </a:xfrm>
            <a:custGeom>
              <a:avLst/>
              <a:gdLst/>
              <a:ahLst/>
              <a:cxnLst/>
              <a:rect r="r" b="b" t="t" l="l"/>
              <a:pathLst>
                <a:path h="1720465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1720465"/>
                  </a:lnTo>
                  <a:lnTo>
                    <a:pt x="0" y="1720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5542" r="0" b="-3554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2118" y="8752747"/>
            <a:ext cx="1725930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 specifically identifies invoice prefixes C and A, including bad-debt adjustments, rather than blindly treating every negative value as a normal sale.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253" y="2392419"/>
            <a:ext cx="5717447" cy="4059255"/>
          </a:xfrm>
          <a:custGeom>
            <a:avLst/>
            <a:gdLst/>
            <a:ahLst/>
            <a:cxnLst/>
            <a:rect r="r" b="b" t="t" l="l"/>
            <a:pathLst>
              <a:path h="4059255" w="5717447">
                <a:moveTo>
                  <a:pt x="0" y="0"/>
                </a:moveTo>
                <a:lnTo>
                  <a:pt x="5717448" y="0"/>
                </a:lnTo>
                <a:lnTo>
                  <a:pt x="5717448" y="4059255"/>
                </a:lnTo>
                <a:lnTo>
                  <a:pt x="0" y="4059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73843" y="2392419"/>
            <a:ext cx="5726805" cy="4059255"/>
          </a:xfrm>
          <a:custGeom>
            <a:avLst/>
            <a:gdLst/>
            <a:ahLst/>
            <a:cxnLst/>
            <a:rect r="r" b="b" t="t" l="l"/>
            <a:pathLst>
              <a:path h="4059255" w="5726805">
                <a:moveTo>
                  <a:pt x="0" y="0"/>
                </a:moveTo>
                <a:lnTo>
                  <a:pt x="5726805" y="0"/>
                </a:lnTo>
                <a:lnTo>
                  <a:pt x="5726805" y="4059255"/>
                </a:lnTo>
                <a:lnTo>
                  <a:pt x="0" y="4059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49942" y="2385775"/>
            <a:ext cx="5726805" cy="4052611"/>
          </a:xfrm>
          <a:custGeom>
            <a:avLst/>
            <a:gdLst/>
            <a:ahLst/>
            <a:cxnLst/>
            <a:rect r="r" b="b" t="t" l="l"/>
            <a:pathLst>
              <a:path h="4052611" w="5726805">
                <a:moveTo>
                  <a:pt x="0" y="0"/>
                </a:moveTo>
                <a:lnTo>
                  <a:pt x="5726805" y="0"/>
                </a:lnTo>
                <a:lnTo>
                  <a:pt x="5726805" y="4052612"/>
                </a:lnTo>
                <a:lnTo>
                  <a:pt x="0" y="4052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6863812" y="7552129"/>
          <a:ext cx="5657850" cy="2514600"/>
        </p:xfrm>
        <a:graphic>
          <a:graphicData uri="http://schemas.openxmlformats.org/presentationml/2006/ole">
            <p:oleObj imgW="6781800" imgH="3644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462168" y="688657"/>
            <a:ext cx="7350153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OUTLIER ≠ ERROR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5814" y="1494215"/>
            <a:ext cx="184832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0423" y="1494215"/>
            <a:ext cx="104715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2210" y="1494215"/>
            <a:ext cx="290226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Amount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440" y="6624394"/>
            <a:ext cx="18001611" cy="755015"/>
            <a:chOff x="0" y="0"/>
            <a:chExt cx="24002148" cy="100668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002147" cy="1006687"/>
            </a:xfrm>
            <a:custGeom>
              <a:avLst/>
              <a:gdLst/>
              <a:ahLst/>
              <a:cxnLst/>
              <a:rect r="r" b="b" t="t" l="l"/>
              <a:pathLst>
                <a:path h="1006687" w="24002147">
                  <a:moveTo>
                    <a:pt x="0" y="0"/>
                  </a:moveTo>
                  <a:lnTo>
                    <a:pt x="24002147" y="0"/>
                  </a:lnTo>
                  <a:lnTo>
                    <a:pt x="24002147" y="1006687"/>
                  </a:lnTo>
                  <a:lnTo>
                    <a:pt x="0" y="100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2483" r="0" b="-10248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1951" y="6704086"/>
            <a:ext cx="1780479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IQR-based analysis identified unusual values, but unusual does not automatically mean incorrect.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77085"/>
            <a:ext cx="5265182" cy="5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b="true" sz="29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outliers detected: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12178">
            <a:off x="16267567" y="233046"/>
            <a:ext cx="1417560" cy="1591307"/>
          </a:xfrm>
          <a:custGeom>
            <a:avLst/>
            <a:gdLst/>
            <a:ahLst/>
            <a:cxnLst/>
            <a:rect r="r" b="b" t="t" l="l"/>
            <a:pathLst>
              <a:path h="1591307" w="1417560">
                <a:moveTo>
                  <a:pt x="0" y="0"/>
                </a:moveTo>
                <a:lnTo>
                  <a:pt x="1417560" y="0"/>
                </a:lnTo>
                <a:lnTo>
                  <a:pt x="1417560" y="1591308"/>
                </a:lnTo>
                <a:lnTo>
                  <a:pt x="0" y="159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9631" y="2033417"/>
            <a:ext cx="5097972" cy="6220167"/>
          </a:xfrm>
          <a:custGeom>
            <a:avLst/>
            <a:gdLst/>
            <a:ahLst/>
            <a:cxnLst/>
            <a:rect r="r" b="b" t="t" l="l"/>
            <a:pathLst>
              <a:path h="6220167" w="5097972">
                <a:moveTo>
                  <a:pt x="0" y="0"/>
                </a:moveTo>
                <a:lnTo>
                  <a:pt x="5097972" y="0"/>
                </a:lnTo>
                <a:lnTo>
                  <a:pt x="5097972" y="6220166"/>
                </a:lnTo>
                <a:lnTo>
                  <a:pt x="0" y="622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5597" y="441007"/>
            <a:ext cx="1590189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SO, </a:t>
            </a: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WHAT HAPPENED TO THE BUSINESS?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1627" y="3004476"/>
            <a:ext cx="8726765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b="true" sz="5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↑VOLUME ↓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0681" y="4987834"/>
            <a:ext cx="727519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£10.27M → £10.63M   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+3.5% sales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6431" y="6218619"/>
            <a:ext cx="670369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5.81M → 5.57M  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−4.1% quantity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3198" y="8758511"/>
            <a:ext cx="16938297" cy="1089100"/>
            <a:chOff x="0" y="0"/>
            <a:chExt cx="22517003" cy="1447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517002" cy="1447800"/>
            </a:xfrm>
            <a:custGeom>
              <a:avLst/>
              <a:gdLst/>
              <a:ahLst/>
              <a:cxnLst/>
              <a:rect r="r" b="b" t="t" l="l"/>
              <a:pathLst>
                <a:path h="1447800" w="22517002">
                  <a:moveTo>
                    <a:pt x="0" y="0"/>
                  </a:moveTo>
                  <a:lnTo>
                    <a:pt x="22517002" y="0"/>
                  </a:lnTo>
                  <a:lnTo>
                    <a:pt x="22517002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464" r="0" b="-4946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92194" y="8672786"/>
            <a:ext cx="1586710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 calculates total sales of £10,271,762.664 and £10,631,066.744 for the two periods, while total quantities are 5,812,947 and 5,572,420.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58892"/>
            <a:ext cx="6985969" cy="5963828"/>
          </a:xfrm>
          <a:custGeom>
            <a:avLst/>
            <a:gdLst/>
            <a:ahLst/>
            <a:cxnLst/>
            <a:rect r="r" b="b" t="t" l="l"/>
            <a:pathLst>
              <a:path h="5963828" w="6985969">
                <a:moveTo>
                  <a:pt x="0" y="0"/>
                </a:moveTo>
                <a:lnTo>
                  <a:pt x="6985969" y="0"/>
                </a:lnTo>
                <a:lnTo>
                  <a:pt x="6985969" y="5963828"/>
                </a:lnTo>
                <a:lnTo>
                  <a:pt x="0" y="5963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9673" y="1620513"/>
            <a:ext cx="7030926" cy="6002207"/>
          </a:xfrm>
          <a:custGeom>
            <a:avLst/>
            <a:gdLst/>
            <a:ahLst/>
            <a:cxnLst/>
            <a:rect r="r" b="b" t="t" l="l"/>
            <a:pathLst>
              <a:path h="6002207" w="7030926">
                <a:moveTo>
                  <a:pt x="0" y="0"/>
                </a:moveTo>
                <a:lnTo>
                  <a:pt x="7030926" y="0"/>
                </a:lnTo>
                <a:lnTo>
                  <a:pt x="7030926" y="6002207"/>
                </a:lnTo>
                <a:lnTo>
                  <a:pt x="0" y="600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641" y="441007"/>
            <a:ext cx="1781071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FEWER UNITS.  MORE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CONCENTRATION.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21685" y="7779742"/>
            <a:ext cx="8477599" cy="52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TOP-10 PRODUCT SHARE          7.05% → 8.38%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928" y="8484637"/>
            <a:ext cx="1802014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While total quantity declined, the top 10 products accounted for a larger share of the quantity sold.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9244" y="9080902"/>
            <a:ext cx="16740056" cy="801370"/>
            <a:chOff x="0" y="0"/>
            <a:chExt cx="22320075" cy="1068494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2320075" cy="1068494"/>
            </a:xfrm>
            <a:custGeom>
              <a:avLst/>
              <a:gdLst/>
              <a:ahLst/>
              <a:cxnLst/>
              <a:rect r="r" b="b" t="t" l="l"/>
              <a:pathLst>
                <a:path h="1068494" w="22320075">
                  <a:moveTo>
                    <a:pt x="0" y="0"/>
                  </a:moveTo>
                  <a:lnTo>
                    <a:pt x="22320075" y="0"/>
                  </a:lnTo>
                  <a:lnTo>
                    <a:pt x="22320075" y="1068494"/>
                  </a:lnTo>
                  <a:lnTo>
                    <a:pt x="0" y="1068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3595" r="0" b="-8359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9185042"/>
            <a:ext cx="15945565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 calculates 409,699 units from the top 10 in 2009–10 and 467,101 in 2010–11.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0106" y="1896417"/>
            <a:ext cx="4877251" cy="6494166"/>
          </a:xfrm>
          <a:custGeom>
            <a:avLst/>
            <a:gdLst/>
            <a:ahLst/>
            <a:cxnLst/>
            <a:rect r="r" b="b" t="t" l="l"/>
            <a:pathLst>
              <a:path h="6494166" w="4877251">
                <a:moveTo>
                  <a:pt x="0" y="0"/>
                </a:moveTo>
                <a:lnTo>
                  <a:pt x="4877251" y="0"/>
                </a:lnTo>
                <a:lnTo>
                  <a:pt x="4877251" y="6494166"/>
                </a:lnTo>
                <a:lnTo>
                  <a:pt x="0" y="6494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94815" y="1896417"/>
            <a:ext cx="4834103" cy="6494166"/>
          </a:xfrm>
          <a:custGeom>
            <a:avLst/>
            <a:gdLst/>
            <a:ahLst/>
            <a:cxnLst/>
            <a:rect r="r" b="b" t="t" l="l"/>
            <a:pathLst>
              <a:path h="6494166" w="4834103">
                <a:moveTo>
                  <a:pt x="0" y="0"/>
                </a:moveTo>
                <a:lnTo>
                  <a:pt x="4834103" y="0"/>
                </a:lnTo>
                <a:lnTo>
                  <a:pt x="4834103" y="6494166"/>
                </a:lnTo>
                <a:lnTo>
                  <a:pt x="0" y="649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4836" y="688657"/>
            <a:ext cx="14238328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CUSTOMERS WERE SPENDING MORE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29025"/>
            <a:ext cx="2555441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£2,381.58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2009–2010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£2,450.68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2010–2011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+2.9%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90868" y="4441764"/>
            <a:ext cx="305633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£1.47M → £1.75M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2253" y="8800158"/>
            <a:ext cx="17444950" cy="1001067"/>
            <a:chOff x="0" y="0"/>
            <a:chExt cx="23259933" cy="1334756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3259932" cy="1334756"/>
            </a:xfrm>
            <a:custGeom>
              <a:avLst/>
              <a:gdLst/>
              <a:ahLst/>
              <a:cxnLst/>
              <a:rect r="r" b="b" t="t" l="l"/>
              <a:pathLst>
                <a:path h="1334756" w="23259932">
                  <a:moveTo>
                    <a:pt x="0" y="0"/>
                  </a:moveTo>
                  <a:lnTo>
                    <a:pt x="23259932" y="0"/>
                  </a:lnTo>
                  <a:lnTo>
                    <a:pt x="23259932" y="1334756"/>
                  </a:lnTo>
                  <a:lnTo>
                    <a:pt x="0" y="133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1448" r="0" b="-6144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02253" y="8985250"/>
            <a:ext cx="17483494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 reports those exact average and maximum customer-spending figures.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991" y="2104038"/>
            <a:ext cx="12223834" cy="6078924"/>
          </a:xfrm>
          <a:custGeom>
            <a:avLst/>
            <a:gdLst/>
            <a:ahLst/>
            <a:cxnLst/>
            <a:rect r="r" b="b" t="t" l="l"/>
            <a:pathLst>
              <a:path h="6078924" w="12223834">
                <a:moveTo>
                  <a:pt x="0" y="0"/>
                </a:moveTo>
                <a:lnTo>
                  <a:pt x="12223833" y="0"/>
                </a:lnTo>
                <a:lnTo>
                  <a:pt x="12223833" y="6078924"/>
                </a:lnTo>
                <a:lnTo>
                  <a:pt x="0" y="607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1462" y="450532"/>
            <a:ext cx="10420914" cy="102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8"/>
              </a:lnSpc>
              <a:spcBef>
                <a:spcPct val="0"/>
              </a:spcBef>
            </a:pPr>
            <a:r>
              <a:rPr lang="en-US" b="true" sz="5998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ONE MARKET</a:t>
            </a:r>
            <a:r>
              <a:rPr lang="en-US" b="true" sz="5998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DOMINATES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963197" y="2673297"/>
            <a:ext cx="4871925" cy="4940405"/>
            <a:chOff x="0" y="0"/>
            <a:chExt cx="6495899" cy="65872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95899" cy="6587207"/>
              <a:chOff x="0" y="0"/>
              <a:chExt cx="1371218" cy="139049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71218" cy="1390493"/>
              </a:xfrm>
              <a:custGeom>
                <a:avLst/>
                <a:gdLst/>
                <a:ahLst/>
                <a:cxnLst/>
                <a:rect r="r" b="b" t="t" l="l"/>
                <a:pathLst>
                  <a:path h="1390493" w="1371218">
                    <a:moveTo>
                      <a:pt x="81044" y="0"/>
                    </a:moveTo>
                    <a:lnTo>
                      <a:pt x="1290175" y="0"/>
                    </a:lnTo>
                    <a:cubicBezTo>
                      <a:pt x="1334934" y="0"/>
                      <a:pt x="1371218" y="36284"/>
                      <a:pt x="1371218" y="81044"/>
                    </a:cubicBezTo>
                    <a:lnTo>
                      <a:pt x="1371218" y="1309449"/>
                    </a:lnTo>
                    <a:cubicBezTo>
                      <a:pt x="1371218" y="1330943"/>
                      <a:pt x="1362680" y="1351557"/>
                      <a:pt x="1347481" y="1366755"/>
                    </a:cubicBezTo>
                    <a:cubicBezTo>
                      <a:pt x="1332283" y="1381954"/>
                      <a:pt x="1311669" y="1390493"/>
                      <a:pt x="1290175" y="1390493"/>
                    </a:cubicBezTo>
                    <a:lnTo>
                      <a:pt x="81044" y="1390493"/>
                    </a:lnTo>
                    <a:cubicBezTo>
                      <a:pt x="59549" y="1390493"/>
                      <a:pt x="38936" y="1381954"/>
                      <a:pt x="23737" y="1366755"/>
                    </a:cubicBezTo>
                    <a:cubicBezTo>
                      <a:pt x="8538" y="1351557"/>
                      <a:pt x="0" y="1330943"/>
                      <a:pt x="0" y="1309449"/>
                    </a:cubicBezTo>
                    <a:lnTo>
                      <a:pt x="0" y="81044"/>
                    </a:lnTo>
                    <a:cubicBezTo>
                      <a:pt x="0" y="59549"/>
                      <a:pt x="8538" y="38936"/>
                      <a:pt x="23737" y="23737"/>
                    </a:cubicBezTo>
                    <a:cubicBezTo>
                      <a:pt x="38936" y="8538"/>
                      <a:pt x="59549" y="0"/>
                      <a:pt x="81044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1371218" cy="14571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79483" y="639915"/>
              <a:ext cx="5736933" cy="1446654"/>
              <a:chOff x="0" y="0"/>
              <a:chExt cx="1211008" cy="30537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11008" cy="305374"/>
              </a:xfrm>
              <a:custGeom>
                <a:avLst/>
                <a:gdLst/>
                <a:ahLst/>
                <a:cxnLst/>
                <a:rect r="r" b="b" t="t" l="l"/>
                <a:pathLst>
                  <a:path h="305374" w="1211008">
                    <a:moveTo>
                      <a:pt x="55779" y="0"/>
                    </a:moveTo>
                    <a:lnTo>
                      <a:pt x="1155229" y="0"/>
                    </a:lnTo>
                    <a:cubicBezTo>
                      <a:pt x="1170023" y="0"/>
                      <a:pt x="1184210" y="5877"/>
                      <a:pt x="1194671" y="16337"/>
                    </a:cubicBezTo>
                    <a:cubicBezTo>
                      <a:pt x="1205131" y="26798"/>
                      <a:pt x="1211008" y="40985"/>
                      <a:pt x="1211008" y="55779"/>
                    </a:cubicBezTo>
                    <a:lnTo>
                      <a:pt x="1211008" y="249595"/>
                    </a:lnTo>
                    <a:cubicBezTo>
                      <a:pt x="1211008" y="280401"/>
                      <a:pt x="1186035" y="305374"/>
                      <a:pt x="1155229" y="305374"/>
                    </a:cubicBezTo>
                    <a:lnTo>
                      <a:pt x="55779" y="305374"/>
                    </a:lnTo>
                    <a:cubicBezTo>
                      <a:pt x="40985" y="305374"/>
                      <a:pt x="26798" y="299497"/>
                      <a:pt x="16337" y="289037"/>
                    </a:cubicBezTo>
                    <a:cubicBezTo>
                      <a:pt x="5877" y="278576"/>
                      <a:pt x="0" y="264389"/>
                      <a:pt x="0" y="249595"/>
                    </a:cubicBezTo>
                    <a:lnTo>
                      <a:pt x="0" y="55779"/>
                    </a:lnTo>
                    <a:cubicBezTo>
                      <a:pt x="0" y="40985"/>
                      <a:pt x="5877" y="26798"/>
                      <a:pt x="16337" y="16337"/>
                    </a:cubicBezTo>
                    <a:cubicBezTo>
                      <a:pt x="26798" y="5877"/>
                      <a:pt x="40985" y="0"/>
                      <a:pt x="55779" y="0"/>
                    </a:cubicBezTo>
                    <a:close/>
                  </a:path>
                </a:pathLst>
              </a:custGeom>
              <a:solidFill>
                <a:srgbClr val="297AA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1211008" cy="3720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8153" y="958536"/>
              <a:ext cx="5499593" cy="714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b="true" sz="3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UK ≈ 85.8% OF SALES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79483" y="2330005"/>
              <a:ext cx="5855602" cy="39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UK overwhelmingly dominates the retailer's sales, while the other leading markets contribute much smaller amounts.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1346" y="8564563"/>
            <a:ext cx="16747954" cy="1085850"/>
            <a:chOff x="0" y="0"/>
            <a:chExt cx="22330605" cy="14478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2330606" cy="1447800"/>
            </a:xfrm>
            <a:custGeom>
              <a:avLst/>
              <a:gdLst/>
              <a:ahLst/>
              <a:cxnLst/>
              <a:rect r="r" b="b" t="t" l="l"/>
              <a:pathLst>
                <a:path h="1447800" w="22330606">
                  <a:moveTo>
                    <a:pt x="0" y="0"/>
                  </a:moveTo>
                  <a:lnTo>
                    <a:pt x="22330606" y="0"/>
                  </a:lnTo>
                  <a:lnTo>
                    <a:pt x="22330606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641" r="0" b="-4863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4719" y="8807450"/>
            <a:ext cx="1664458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notebook's country totals show UK sales of £8.81M in 2009–10 and £8.99M in 2010–11.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845" y="3175848"/>
            <a:ext cx="5892298" cy="5600444"/>
          </a:xfrm>
          <a:custGeom>
            <a:avLst/>
            <a:gdLst/>
            <a:ahLst/>
            <a:cxnLst/>
            <a:rect r="r" b="b" t="t" l="l"/>
            <a:pathLst>
              <a:path h="5600444" w="5892298">
                <a:moveTo>
                  <a:pt x="0" y="0"/>
                </a:moveTo>
                <a:lnTo>
                  <a:pt x="5892298" y="0"/>
                </a:lnTo>
                <a:lnTo>
                  <a:pt x="5892298" y="5600444"/>
                </a:lnTo>
                <a:lnTo>
                  <a:pt x="0" y="560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75068" y="3175848"/>
            <a:ext cx="5934087" cy="5600444"/>
          </a:xfrm>
          <a:custGeom>
            <a:avLst/>
            <a:gdLst/>
            <a:ahLst/>
            <a:cxnLst/>
            <a:rect r="r" b="b" t="t" l="l"/>
            <a:pathLst>
              <a:path h="5600444" w="5934087">
                <a:moveTo>
                  <a:pt x="0" y="0"/>
                </a:moveTo>
                <a:lnTo>
                  <a:pt x="5934087" y="0"/>
                </a:lnTo>
                <a:lnTo>
                  <a:pt x="5934087" y="5600444"/>
                </a:lnTo>
                <a:lnTo>
                  <a:pt x="0" y="5600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6163" y="441007"/>
            <a:ext cx="1205567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LEADING MARKETS SHIFT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24119" y="3336307"/>
            <a:ext cx="5397972" cy="5279526"/>
            <a:chOff x="0" y="0"/>
            <a:chExt cx="7197296" cy="703936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197296" cy="7039368"/>
              <a:chOff x="0" y="0"/>
              <a:chExt cx="1421688" cy="13904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21688" cy="1390493"/>
              </a:xfrm>
              <a:custGeom>
                <a:avLst/>
                <a:gdLst/>
                <a:ahLst/>
                <a:cxnLst/>
                <a:rect r="r" b="b" t="t" l="l"/>
                <a:pathLst>
                  <a:path h="1390493" w="1421688">
                    <a:moveTo>
                      <a:pt x="73146" y="0"/>
                    </a:moveTo>
                    <a:lnTo>
                      <a:pt x="1348543" y="0"/>
                    </a:lnTo>
                    <a:cubicBezTo>
                      <a:pt x="1367942" y="0"/>
                      <a:pt x="1386547" y="7706"/>
                      <a:pt x="1400264" y="21424"/>
                    </a:cubicBezTo>
                    <a:cubicBezTo>
                      <a:pt x="1413982" y="35141"/>
                      <a:pt x="1421688" y="53746"/>
                      <a:pt x="1421688" y="73146"/>
                    </a:cubicBezTo>
                    <a:lnTo>
                      <a:pt x="1421688" y="1317347"/>
                    </a:lnTo>
                    <a:cubicBezTo>
                      <a:pt x="1421688" y="1336746"/>
                      <a:pt x="1413982" y="1355351"/>
                      <a:pt x="1400264" y="1369069"/>
                    </a:cubicBezTo>
                    <a:cubicBezTo>
                      <a:pt x="1386547" y="1382786"/>
                      <a:pt x="1367942" y="1390493"/>
                      <a:pt x="1348543" y="1390493"/>
                    </a:cubicBezTo>
                    <a:lnTo>
                      <a:pt x="73146" y="1390493"/>
                    </a:lnTo>
                    <a:cubicBezTo>
                      <a:pt x="53746" y="1390493"/>
                      <a:pt x="35141" y="1382786"/>
                      <a:pt x="21424" y="1369069"/>
                    </a:cubicBezTo>
                    <a:cubicBezTo>
                      <a:pt x="7706" y="1355351"/>
                      <a:pt x="0" y="1336746"/>
                      <a:pt x="0" y="1317347"/>
                    </a:cubicBezTo>
                    <a:lnTo>
                      <a:pt x="0" y="73146"/>
                    </a:lnTo>
                    <a:cubicBezTo>
                      <a:pt x="0" y="53746"/>
                      <a:pt x="7706" y="35141"/>
                      <a:pt x="21424" y="21424"/>
                    </a:cubicBezTo>
                    <a:cubicBezTo>
                      <a:pt x="35141" y="7706"/>
                      <a:pt x="53746" y="0"/>
                      <a:pt x="73146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421688" cy="14571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503066"/>
              <a:ext cx="7037659" cy="3952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12523" indent="-306262" lvl="1">
                <a:lnSpc>
                  <a:spcPts val="3971"/>
                </a:lnSpc>
                <a:buFont typeface="Arial"/>
                <a:buChar char="•"/>
              </a:pPr>
              <a:r>
                <a:rPr lang="en-US" sz="28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UK remained </a:t>
              </a:r>
              <a:r>
                <a:rPr lang="en-US" b="true" sz="283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#1</a:t>
              </a:r>
            </a:p>
            <a:p>
              <a:pPr algn="l" marL="612523" indent="-306262" lvl="1">
                <a:lnSpc>
                  <a:spcPts val="3971"/>
                </a:lnSpc>
                <a:buFont typeface="Arial"/>
                <a:buChar char="•"/>
              </a:pPr>
              <a:r>
                <a:rPr lang="en-US" sz="28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Netherlands moved ahead of EIRE in 2010–2011</a:t>
              </a:r>
            </a:p>
            <a:p>
              <a:pPr algn="l" marL="612523" indent="-306262" lvl="1">
                <a:lnSpc>
                  <a:spcPts val="3971"/>
                </a:lnSpc>
                <a:buFont typeface="Arial"/>
                <a:buChar char="•"/>
              </a:pPr>
              <a:r>
                <a:rPr lang="en-US" sz="28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France increased substantially</a:t>
              </a:r>
            </a:p>
            <a:p>
              <a:pPr algn="l" marL="612523" indent="-306262" lvl="1">
                <a:lnSpc>
                  <a:spcPts val="3971"/>
                </a:lnSpc>
                <a:buFont typeface="Arial"/>
                <a:buChar char="•"/>
              </a:pPr>
              <a:r>
                <a:rPr lang="en-US" sz="28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Germany also increased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453465" y="485255"/>
              <a:ext cx="6130729" cy="1545956"/>
              <a:chOff x="0" y="0"/>
              <a:chExt cx="1211008" cy="30537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1008" cy="305374"/>
              </a:xfrm>
              <a:custGeom>
                <a:avLst/>
                <a:gdLst/>
                <a:ahLst/>
                <a:cxnLst/>
                <a:rect r="r" b="b" t="t" l="l"/>
                <a:pathLst>
                  <a:path h="305374" w="1211008">
                    <a:moveTo>
                      <a:pt x="52196" y="0"/>
                    </a:moveTo>
                    <a:lnTo>
                      <a:pt x="1158812" y="0"/>
                    </a:lnTo>
                    <a:cubicBezTo>
                      <a:pt x="1187639" y="0"/>
                      <a:pt x="1211008" y="23369"/>
                      <a:pt x="1211008" y="52196"/>
                    </a:cubicBezTo>
                    <a:lnTo>
                      <a:pt x="1211008" y="253178"/>
                    </a:lnTo>
                    <a:cubicBezTo>
                      <a:pt x="1211008" y="282005"/>
                      <a:pt x="1187639" y="305374"/>
                      <a:pt x="1158812" y="305374"/>
                    </a:cubicBezTo>
                    <a:lnTo>
                      <a:pt x="52196" y="305374"/>
                    </a:lnTo>
                    <a:cubicBezTo>
                      <a:pt x="38353" y="305374"/>
                      <a:pt x="25076" y="299875"/>
                      <a:pt x="15288" y="290086"/>
                    </a:cubicBezTo>
                    <a:cubicBezTo>
                      <a:pt x="5499" y="280297"/>
                      <a:pt x="0" y="267021"/>
                      <a:pt x="0" y="253178"/>
                    </a:cubicBezTo>
                    <a:lnTo>
                      <a:pt x="0" y="52196"/>
                    </a:lnTo>
                    <a:cubicBezTo>
                      <a:pt x="0" y="23369"/>
                      <a:pt x="23369" y="0"/>
                      <a:pt x="52196" y="0"/>
                    </a:cubicBezTo>
                    <a:close/>
                  </a:path>
                </a:pathLst>
              </a:custGeom>
              <a:solidFill>
                <a:srgbClr val="297AA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211008" cy="4101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759"/>
                  </a:lnSpc>
                </a:pPr>
                <a:r>
                  <a:rPr lang="en-US" b="true" sz="339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WHAT CHANGED?</a:t>
                </a: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4385787" y="1628329"/>
            <a:ext cx="9474637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COUNTRY PERFORMANCE ISN'T STATIC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63290"/>
            <a:ext cx="6761020" cy="4506400"/>
          </a:xfrm>
          <a:custGeom>
            <a:avLst/>
            <a:gdLst/>
            <a:ahLst/>
            <a:cxnLst/>
            <a:rect r="r" b="b" t="t" l="l"/>
            <a:pathLst>
              <a:path h="4506400" w="6761020">
                <a:moveTo>
                  <a:pt x="0" y="0"/>
                </a:moveTo>
                <a:lnTo>
                  <a:pt x="6761020" y="0"/>
                </a:lnTo>
                <a:lnTo>
                  <a:pt x="6761020" y="4506400"/>
                </a:lnTo>
                <a:lnTo>
                  <a:pt x="0" y="450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28746" y="3063290"/>
            <a:ext cx="7130554" cy="4506400"/>
          </a:xfrm>
          <a:custGeom>
            <a:avLst/>
            <a:gdLst/>
            <a:ahLst/>
            <a:cxnLst/>
            <a:rect r="r" b="b" t="t" l="l"/>
            <a:pathLst>
              <a:path h="4506400" w="7130554">
                <a:moveTo>
                  <a:pt x="0" y="0"/>
                </a:moveTo>
                <a:lnTo>
                  <a:pt x="7130554" y="0"/>
                </a:lnTo>
                <a:lnTo>
                  <a:pt x="7130554" y="4506400"/>
                </a:lnTo>
                <a:lnTo>
                  <a:pt x="0" y="450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41007"/>
            <a:ext cx="1828800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PRODUCT PREFERENCE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DIFF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CRO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 M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RKE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025378"/>
            <a:ext cx="1828800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composition of the leading products changes between the two periods, showing that product demand is not completely static.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42108" y="9258300"/>
            <a:ext cx="14174569" cy="755015"/>
            <a:chOff x="0" y="0"/>
            <a:chExt cx="18899426" cy="100668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8899426" cy="1006687"/>
            </a:xfrm>
            <a:custGeom>
              <a:avLst/>
              <a:gdLst/>
              <a:ahLst/>
              <a:cxnLst/>
              <a:rect r="r" b="b" t="t" l="l"/>
              <a:pathLst>
                <a:path h="1006687" w="18899426">
                  <a:moveTo>
                    <a:pt x="0" y="0"/>
                  </a:moveTo>
                  <a:lnTo>
                    <a:pt x="18899426" y="0"/>
                  </a:lnTo>
                  <a:lnTo>
                    <a:pt x="18899426" y="1006687"/>
                  </a:lnTo>
                  <a:lnTo>
                    <a:pt x="0" y="100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066" r="0" b="-7006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28267" y="9337992"/>
            <a:ext cx="1363146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CB6FF"/>
                </a:solidFill>
                <a:latin typeface="Poppins"/>
                <a:ea typeface="Poppins"/>
                <a:cs typeface="Poppins"/>
                <a:sym typeface="Poppins"/>
              </a:rPr>
              <a:t>The notebook groups the top products across the selected top five countries.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866" y="2831252"/>
            <a:ext cx="9854316" cy="5463225"/>
          </a:xfrm>
          <a:custGeom>
            <a:avLst/>
            <a:gdLst/>
            <a:ahLst/>
            <a:cxnLst/>
            <a:rect r="r" b="b" t="t" l="l"/>
            <a:pathLst>
              <a:path h="5463225" w="9854316">
                <a:moveTo>
                  <a:pt x="0" y="0"/>
                </a:moveTo>
                <a:lnTo>
                  <a:pt x="9854316" y="0"/>
                </a:lnTo>
                <a:lnTo>
                  <a:pt x="9854316" y="5463225"/>
                </a:lnTo>
                <a:lnTo>
                  <a:pt x="0" y="546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2870" y="3644018"/>
            <a:ext cx="7753707" cy="3837693"/>
          </a:xfrm>
          <a:custGeom>
            <a:avLst/>
            <a:gdLst/>
            <a:ahLst/>
            <a:cxnLst/>
            <a:rect r="r" b="b" t="t" l="l"/>
            <a:pathLst>
              <a:path h="3837693" w="7753707">
                <a:moveTo>
                  <a:pt x="0" y="0"/>
                </a:moveTo>
                <a:lnTo>
                  <a:pt x="7753707" y="0"/>
                </a:lnTo>
                <a:lnTo>
                  <a:pt x="7753707" y="3837693"/>
                </a:lnTo>
                <a:lnTo>
                  <a:pt x="0" y="3837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350" y="441007"/>
            <a:ext cx="1725930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BUSINESS IS NOT STEADY THROUGHOUT THE YEAR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350" y="8493972"/>
            <a:ext cx="17522227" cy="112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 sales fluctuate substantially across the year, with both periods showing noticeable peaks and dips.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7997" y="441007"/>
            <a:ext cx="1579200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STORY BEH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IN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TRAN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AC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</a:t>
            </a:r>
            <a:r>
              <a:rPr lang="en-US" b="true" sz="6000" strike="noStrike" u="non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09456" y="2028623"/>
            <a:ext cx="14869089" cy="5475473"/>
            <a:chOff x="0" y="0"/>
            <a:chExt cx="19825452" cy="730063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592605" y="0"/>
              <a:ext cx="8071403" cy="2939604"/>
              <a:chOff x="0" y="0"/>
              <a:chExt cx="1594351" cy="5806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94351" cy="580662"/>
              </a:xfrm>
              <a:custGeom>
                <a:avLst/>
                <a:gdLst/>
                <a:ahLst/>
                <a:cxnLst/>
                <a:rect r="r" b="b" t="t" l="l"/>
                <a:pathLst>
                  <a:path h="580662" w="1594351">
                    <a:moveTo>
                      <a:pt x="65224" y="0"/>
                    </a:moveTo>
                    <a:lnTo>
                      <a:pt x="1529127" y="0"/>
                    </a:lnTo>
                    <a:cubicBezTo>
                      <a:pt x="1546426" y="0"/>
                      <a:pt x="1563016" y="6872"/>
                      <a:pt x="1575248" y="19104"/>
                    </a:cubicBezTo>
                    <a:cubicBezTo>
                      <a:pt x="1587479" y="31336"/>
                      <a:pt x="1594351" y="47926"/>
                      <a:pt x="1594351" y="65224"/>
                    </a:cubicBezTo>
                    <a:lnTo>
                      <a:pt x="1594351" y="515438"/>
                    </a:lnTo>
                    <a:cubicBezTo>
                      <a:pt x="1594351" y="532737"/>
                      <a:pt x="1587479" y="549327"/>
                      <a:pt x="1575248" y="561559"/>
                    </a:cubicBezTo>
                    <a:cubicBezTo>
                      <a:pt x="1563016" y="573791"/>
                      <a:pt x="1546426" y="580662"/>
                      <a:pt x="1529127" y="580662"/>
                    </a:cubicBezTo>
                    <a:lnTo>
                      <a:pt x="65224" y="580662"/>
                    </a:lnTo>
                    <a:cubicBezTo>
                      <a:pt x="47926" y="580662"/>
                      <a:pt x="31336" y="573791"/>
                      <a:pt x="19104" y="561559"/>
                    </a:cubicBezTo>
                    <a:cubicBezTo>
                      <a:pt x="6872" y="549327"/>
                      <a:pt x="0" y="532737"/>
                      <a:pt x="0" y="515438"/>
                    </a:cubicBezTo>
                    <a:lnTo>
                      <a:pt x="0" y="65224"/>
                    </a:lnTo>
                    <a:cubicBezTo>
                      <a:pt x="0" y="47926"/>
                      <a:pt x="6872" y="31336"/>
                      <a:pt x="19104" y="19104"/>
                    </a:cubicBezTo>
                    <a:cubicBezTo>
                      <a:pt x="31336" y="6872"/>
                      <a:pt x="47926" y="0"/>
                      <a:pt x="65224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04775"/>
                <a:ext cx="1594351" cy="685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  <a:r>
                  <a:rPr lang="en-US" sz="33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01 — REVENUE GREW</a:t>
                </a:r>
              </a:p>
              <a:p>
                <a:pPr algn="ctr">
                  <a:lnSpc>
                    <a:spcPts val="4759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+3.5%</a:t>
                </a:r>
              </a:p>
              <a:p>
                <a:pPr algn="ctr" marL="0" indent="0" lvl="0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£10.27M → £10.63M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0702516" y="0"/>
              <a:ext cx="8402404" cy="2946283"/>
              <a:chOff x="0" y="0"/>
              <a:chExt cx="1659734" cy="58198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59734" cy="581982"/>
              </a:xfrm>
              <a:custGeom>
                <a:avLst/>
                <a:gdLst/>
                <a:ahLst/>
                <a:cxnLst/>
                <a:rect r="r" b="b" t="t" l="l"/>
                <a:pathLst>
                  <a:path h="581982" w="1659734">
                    <a:moveTo>
                      <a:pt x="62655" y="0"/>
                    </a:moveTo>
                    <a:lnTo>
                      <a:pt x="1597079" y="0"/>
                    </a:lnTo>
                    <a:cubicBezTo>
                      <a:pt x="1631683" y="0"/>
                      <a:pt x="1659734" y="28051"/>
                      <a:pt x="1659734" y="62655"/>
                    </a:cubicBezTo>
                    <a:lnTo>
                      <a:pt x="1659734" y="519327"/>
                    </a:lnTo>
                    <a:cubicBezTo>
                      <a:pt x="1659734" y="535944"/>
                      <a:pt x="1653133" y="551881"/>
                      <a:pt x="1641383" y="563631"/>
                    </a:cubicBezTo>
                    <a:cubicBezTo>
                      <a:pt x="1629633" y="575381"/>
                      <a:pt x="1613696" y="581982"/>
                      <a:pt x="1597079" y="581982"/>
                    </a:cubicBezTo>
                    <a:lnTo>
                      <a:pt x="62655" y="581982"/>
                    </a:lnTo>
                    <a:cubicBezTo>
                      <a:pt x="46038" y="581982"/>
                      <a:pt x="30101" y="575381"/>
                      <a:pt x="18351" y="563631"/>
                    </a:cubicBezTo>
                    <a:cubicBezTo>
                      <a:pt x="6601" y="551881"/>
                      <a:pt x="0" y="535944"/>
                      <a:pt x="0" y="519327"/>
                    </a:cubicBezTo>
                    <a:lnTo>
                      <a:pt x="0" y="62655"/>
                    </a:lnTo>
                    <a:cubicBezTo>
                      <a:pt x="0" y="46038"/>
                      <a:pt x="6601" y="30101"/>
                      <a:pt x="18351" y="18351"/>
                    </a:cubicBezTo>
                    <a:cubicBezTo>
                      <a:pt x="30101" y="6601"/>
                      <a:pt x="46038" y="0"/>
                      <a:pt x="62655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04775"/>
                <a:ext cx="1659734" cy="686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39"/>
                  </a:lnSpc>
                </a:pPr>
                <a:r>
                  <a:rPr lang="en-US" sz="35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02 — VOLUME FELL</a:t>
                </a:r>
              </a:p>
              <a:p>
                <a:pPr algn="ctr">
                  <a:lnSpc>
                    <a:spcPts val="4759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-4.1</a:t>
                </a:r>
                <a:r>
                  <a:rPr lang="en-US" sz="33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%</a:t>
                </a:r>
              </a:p>
              <a:p>
                <a:pPr algn="ctr" marL="0" indent="0" lvl="0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</a:t>
                </a:r>
                <a:r>
                  <a:rPr lang="en-US" sz="29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.81M → 5.57M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461485"/>
              <a:ext cx="9534036" cy="3793843"/>
              <a:chOff x="0" y="0"/>
              <a:chExt cx="1883266" cy="74940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83266" cy="749401"/>
              </a:xfrm>
              <a:custGeom>
                <a:avLst/>
                <a:gdLst/>
                <a:ahLst/>
                <a:cxnLst/>
                <a:rect r="r" b="b" t="t" l="l"/>
                <a:pathLst>
                  <a:path h="749401" w="1883266">
                    <a:moveTo>
                      <a:pt x="55218" y="0"/>
                    </a:moveTo>
                    <a:lnTo>
                      <a:pt x="1828048" y="0"/>
                    </a:lnTo>
                    <a:cubicBezTo>
                      <a:pt x="1858544" y="0"/>
                      <a:pt x="1883266" y="24722"/>
                      <a:pt x="1883266" y="55218"/>
                    </a:cubicBezTo>
                    <a:lnTo>
                      <a:pt x="1883266" y="694183"/>
                    </a:lnTo>
                    <a:cubicBezTo>
                      <a:pt x="1883266" y="724679"/>
                      <a:pt x="1858544" y="749401"/>
                      <a:pt x="1828048" y="749401"/>
                    </a:cubicBezTo>
                    <a:lnTo>
                      <a:pt x="55218" y="749401"/>
                    </a:lnTo>
                    <a:cubicBezTo>
                      <a:pt x="24722" y="749401"/>
                      <a:pt x="0" y="724679"/>
                      <a:pt x="0" y="694183"/>
                    </a:cubicBezTo>
                    <a:lnTo>
                      <a:pt x="0" y="55218"/>
                    </a:lnTo>
                    <a:cubicBezTo>
                      <a:pt x="0" y="24722"/>
                      <a:pt x="24722" y="0"/>
                      <a:pt x="55218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883266" cy="854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39"/>
                  </a:lnSpc>
                </a:pPr>
                <a:r>
                  <a:rPr lang="en-US" sz="35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03 — CUSTOMERS SPENT MORE</a:t>
                </a:r>
              </a:p>
              <a:p>
                <a:pPr algn="ctr">
                  <a:lnSpc>
                    <a:spcPts val="4759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+2.9%</a:t>
                </a:r>
              </a:p>
              <a:p>
                <a:pPr algn="ctr" marL="0" indent="0" lvl="0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£2,381.58 → £2,450.68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9981984" y="3416183"/>
              <a:ext cx="9843467" cy="3884448"/>
              <a:chOff x="0" y="0"/>
              <a:chExt cx="1944389" cy="76729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44389" cy="767298"/>
              </a:xfrm>
              <a:custGeom>
                <a:avLst/>
                <a:gdLst/>
                <a:ahLst/>
                <a:cxnLst/>
                <a:rect r="r" b="b" t="t" l="l"/>
                <a:pathLst>
                  <a:path h="767298" w="1944389">
                    <a:moveTo>
                      <a:pt x="53482" y="0"/>
                    </a:moveTo>
                    <a:lnTo>
                      <a:pt x="1890906" y="0"/>
                    </a:lnTo>
                    <a:cubicBezTo>
                      <a:pt x="1905091" y="0"/>
                      <a:pt x="1918694" y="5635"/>
                      <a:pt x="1928724" y="15665"/>
                    </a:cubicBezTo>
                    <a:cubicBezTo>
                      <a:pt x="1938754" y="25694"/>
                      <a:pt x="1944389" y="39298"/>
                      <a:pt x="1944389" y="53482"/>
                    </a:cubicBezTo>
                    <a:lnTo>
                      <a:pt x="1944389" y="713816"/>
                    </a:lnTo>
                    <a:cubicBezTo>
                      <a:pt x="1944389" y="728000"/>
                      <a:pt x="1938754" y="741604"/>
                      <a:pt x="1928724" y="751634"/>
                    </a:cubicBezTo>
                    <a:cubicBezTo>
                      <a:pt x="1918694" y="761664"/>
                      <a:pt x="1905091" y="767298"/>
                      <a:pt x="1890906" y="767298"/>
                    </a:cubicBezTo>
                    <a:lnTo>
                      <a:pt x="53482" y="767298"/>
                    </a:lnTo>
                    <a:cubicBezTo>
                      <a:pt x="23945" y="767298"/>
                      <a:pt x="0" y="743353"/>
                      <a:pt x="0" y="713816"/>
                    </a:cubicBezTo>
                    <a:lnTo>
                      <a:pt x="0" y="53482"/>
                    </a:lnTo>
                    <a:cubicBezTo>
                      <a:pt x="0" y="39298"/>
                      <a:pt x="5635" y="25694"/>
                      <a:pt x="15665" y="15665"/>
                    </a:cubicBezTo>
                    <a:cubicBezTo>
                      <a:pt x="25694" y="5635"/>
                      <a:pt x="39298" y="0"/>
                      <a:pt x="53482" y="0"/>
                    </a:cubicBezTo>
                    <a:close/>
                  </a:path>
                </a:pathLst>
              </a:custGeom>
              <a:ln w="666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04775"/>
                <a:ext cx="1944389" cy="8720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  <a:r>
                  <a:rPr lang="en-US" sz="33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04 — SALES REMAINED HIGHLY CONCENTRATED</a:t>
                </a:r>
              </a:p>
              <a:p>
                <a:pPr algn="ctr">
                  <a:lnSpc>
                    <a:spcPts val="4759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≈85.8%</a:t>
                </a:r>
              </a:p>
              <a:p>
                <a:pPr algn="ctr" marL="0" indent="0" lvl="0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of sales came from the UK.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2101965" y="7932518"/>
            <a:ext cx="14084070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grew, even as transaction volume declined.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7997" y="8712835"/>
            <a:ext cx="15923661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analysis suggests that growth was not simply driven by selling more units — customer spending and product concentration also changed.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70055" y="-4651302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36163" y="3673475"/>
            <a:ext cx="13015674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Here is where the story ends...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38B6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DAHUuXBkxuY</dc:identifier>
  <dcterms:modified xsi:type="dcterms:W3CDTF">2011-08-01T06:04:30Z</dcterms:modified>
  <cp:revision>1</cp:revision>
  <dc:title>Online Retail II: Data Storytelling Insights</dc:title>
</cp:coreProperties>
</file>